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62" r:id="rId6"/>
    <p:sldId id="263" r:id="rId7"/>
    <p:sldId id="260" r:id="rId8"/>
    <p:sldId id="259" r:id="rId9"/>
  </p:sldIdLst>
  <p:sldSz cx="12192000" cy="6858000"/>
  <p:notesSz cx="6858000" cy="9144000"/>
  <p:embeddedFontLst>
    <p:embeddedFont>
      <p:font typeface="Open Sans" panose="020B0606030504020204" pitchFamily="34" charset="0"/>
      <p:regular r:id="rId11"/>
      <p:bold r:id="rId12"/>
      <p:italic r:id="rId13"/>
      <p:boldItalic r:id="rId14"/>
    </p:embeddedFont>
    <p:embeddedFont>
      <p:font typeface="Open Sans Medium" panose="020B0604020202020204" charset="0"/>
      <p:regular r:id="rId15"/>
      <p:bold r:id="rId16"/>
      <p:italic r:id="rId17"/>
      <p:boldItalic r:id="rId18"/>
    </p:embeddedFont>
    <p:embeddedFont>
      <p:font typeface="Play" panose="020B0604020202020204" charset="0"/>
      <p:regular r:id="rId19"/>
      <p:bold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2" roundtripDataSignature="AMtx7mhBYdUjnBS8W8YTn886O4cN20zMT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51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b05c13414c_0_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g3b05c13414c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b05c13414c_0_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g3b05c13414c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>
          <a:extLst>
            <a:ext uri="{FF2B5EF4-FFF2-40B4-BE49-F238E27FC236}">
              <a16:creationId xmlns:a16="http://schemas.microsoft.com/office/drawing/2014/main" id="{A673EE52-2A8D-5CCF-A2D9-F81BCC593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05c13414c_0_27:notes">
            <a:extLst>
              <a:ext uri="{FF2B5EF4-FFF2-40B4-BE49-F238E27FC236}">
                <a16:creationId xmlns:a16="http://schemas.microsoft.com/office/drawing/2014/main" id="{FC908AA4-BBB1-2C63-9393-47498294113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b05c13414c_0_27:notes">
            <a:extLst>
              <a:ext uri="{FF2B5EF4-FFF2-40B4-BE49-F238E27FC236}">
                <a16:creationId xmlns:a16="http://schemas.microsoft.com/office/drawing/2014/main" id="{7A8803B7-26AE-81C7-B08B-F026DD8BBD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0659198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b05c13414c_0_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g3b05c13414c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b05c13414c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g3b05c13414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>
            <a:spLocks noGrp="1"/>
          </p:cNvSpPr>
          <p:nvPr>
            <p:ph type="ctrTitle"/>
          </p:nvPr>
        </p:nvSpPr>
        <p:spPr>
          <a:xfrm>
            <a:off x="100" y="0"/>
            <a:ext cx="12192000" cy="33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s-ES" u="sng" dirty="0">
                <a:latin typeface="Calibri"/>
                <a:ea typeface="Calibri"/>
                <a:cs typeface="Calibri"/>
                <a:sym typeface="Calibri"/>
              </a:rPr>
              <a:t>Endesa </a:t>
            </a:r>
            <a:r>
              <a:rPr lang="es-ES" u="sng" dirty="0" err="1">
                <a:latin typeface="Calibri"/>
                <a:ea typeface="Calibri"/>
                <a:cs typeface="Calibri"/>
                <a:sym typeface="Calibri"/>
              </a:rPr>
              <a:t>Challenge</a:t>
            </a:r>
            <a:r>
              <a:rPr lang="es-ES" u="sng" dirty="0"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s-ES" dirty="0">
                <a:latin typeface="Calibri"/>
                <a:ea typeface="Calibri"/>
                <a:cs typeface="Calibri"/>
                <a:sym typeface="Calibri"/>
              </a:rPr>
              <a:t> </a:t>
            </a:r>
            <a:br>
              <a:rPr lang="es-ES" dirty="0">
                <a:latin typeface="Calibri"/>
                <a:ea typeface="Calibri"/>
                <a:cs typeface="Calibri"/>
                <a:sym typeface="Calibri"/>
              </a:rPr>
            </a:br>
            <a:r>
              <a:rPr lang="es-ES" dirty="0" err="1">
                <a:latin typeface="Calibri"/>
                <a:ea typeface="Calibri"/>
                <a:cs typeface="Calibri"/>
                <a:sym typeface="Calibri"/>
              </a:rPr>
              <a:t>Joint</a:t>
            </a:r>
            <a:r>
              <a:rPr lang="es-E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dirty="0" err="1">
                <a:latin typeface="Calibri"/>
                <a:ea typeface="Calibri"/>
                <a:cs typeface="Calibri"/>
                <a:sym typeface="Calibri"/>
              </a:rPr>
              <a:t>optimization</a:t>
            </a:r>
            <a:r>
              <a:rPr lang="es-E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dirty="0" err="1">
                <a:latin typeface="Calibri"/>
                <a:ea typeface="Calibri"/>
                <a:cs typeface="Calibri"/>
                <a:sym typeface="Calibri"/>
              </a:rPr>
              <a:t>of</a:t>
            </a:r>
            <a:r>
              <a:rPr lang="es-ES" dirty="0">
                <a:latin typeface="Calibri"/>
                <a:ea typeface="Calibri"/>
                <a:cs typeface="Calibri"/>
                <a:sym typeface="Calibri"/>
              </a:rPr>
              <a:t> a </a:t>
            </a:r>
            <a:br>
              <a:rPr lang="es-ES" dirty="0">
                <a:latin typeface="Calibri"/>
                <a:ea typeface="Calibri"/>
                <a:cs typeface="Calibri"/>
                <a:sym typeface="Calibri"/>
              </a:rPr>
            </a:br>
            <a:r>
              <a:rPr lang="es-ES" dirty="0" err="1">
                <a:latin typeface="Calibri"/>
                <a:ea typeface="Calibri"/>
                <a:cs typeface="Calibri"/>
                <a:sym typeface="Calibri"/>
              </a:rPr>
              <a:t>Battery</a:t>
            </a:r>
            <a:r>
              <a:rPr lang="es-E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dirty="0" err="1">
                <a:latin typeface="Calibri"/>
                <a:ea typeface="Calibri"/>
                <a:cs typeface="Calibri"/>
                <a:sym typeface="Calibri"/>
              </a:rPr>
              <a:t>System</a:t>
            </a:r>
            <a:r>
              <a:rPr lang="es-ES" dirty="0">
                <a:latin typeface="Calibri"/>
                <a:ea typeface="Calibri"/>
                <a:cs typeface="Calibri"/>
                <a:sym typeface="Calibri"/>
              </a:rPr>
              <a:t> and a </a:t>
            </a:r>
            <a:r>
              <a:rPr lang="es-ES" dirty="0" err="1">
                <a:latin typeface="Calibri"/>
                <a:ea typeface="Calibri"/>
                <a:cs typeface="Calibri"/>
                <a:sym typeface="Calibri"/>
              </a:rPr>
              <a:t>Wind</a:t>
            </a:r>
            <a:r>
              <a:rPr lang="es-ES" dirty="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dirty="0" err="1">
                <a:latin typeface="Calibri"/>
                <a:ea typeface="Calibri"/>
                <a:cs typeface="Calibri"/>
                <a:sym typeface="Calibri"/>
              </a:rPr>
              <a:t>Farm</a:t>
            </a:r>
            <a:endParaRPr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>
            <a:spLocks noGrp="1"/>
          </p:cNvSpPr>
          <p:nvPr>
            <p:ph type="subTitle" idx="1"/>
          </p:nvPr>
        </p:nvSpPr>
        <p:spPr>
          <a:xfrm>
            <a:off x="1524000" y="3852976"/>
            <a:ext cx="9144000" cy="287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 sz="3000"/>
              <a:t>Queen of fog</a:t>
            </a:r>
            <a:endParaRPr sz="3000"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/>
              <a:t>Cristian Tabares, Sergio Paniego, Jan Schneider,</a:t>
            </a:r>
            <a:br>
              <a:rPr lang="es-ES"/>
            </a:br>
            <a:br>
              <a:rPr lang="es-ES"/>
            </a:br>
            <a:r>
              <a:rPr lang="es-ES"/>
              <a:t>Joan Agustí, Yanis Le Fur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s-ES"/>
              <a:t>14/12/2025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 txBox="1"/>
          <p:nvPr/>
        </p:nvSpPr>
        <p:spPr>
          <a:xfrm>
            <a:off x="306887" y="-47785"/>
            <a:ext cx="1196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b="0" i="0" u="none" strike="noStrike" cap="none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The problem</a:t>
            </a:r>
            <a:endParaRPr sz="3600" b="0" i="0" u="none" strike="noStrike" cap="none">
              <a:solidFill>
                <a:srgbClr val="BF4F1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7500" y="1018625"/>
            <a:ext cx="12192000" cy="58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70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sz="2200" b="1" i="0" u="none" strike="noStrike" cap="none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Our objective</a:t>
            </a:r>
            <a:r>
              <a:rPr lang="es-ES" sz="2200" b="0" i="0" u="none" strike="noStrike" cap="none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to maximize the </a:t>
            </a:r>
            <a:r>
              <a:rPr lang="es-ES" sz="2200" b="0" u="sng" strike="noStrike" cap="none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joint revenue</a:t>
            </a:r>
            <a:r>
              <a:rPr lang="es-ES" sz="2200" b="0" i="0" u="none" strike="noStrike" cap="none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of a wind farm and a battery over a one-day horizon, </a:t>
            </a:r>
            <a:r>
              <a:rPr lang="es-ES" sz="2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modeling a battery energy storage system (BESS).</a:t>
            </a:r>
            <a:endParaRPr sz="2200" b="0" i="0" u="none" strike="noStrike" cap="none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1270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s-ES" sz="2200" b="1" i="0" u="none" strike="noStrike" cap="none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Our data:</a:t>
            </a:r>
            <a:r>
              <a:rPr lang="es-ES" sz="2200" b="0" i="0" u="none" strike="noStrike" cap="none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endParaRPr sz="2200" b="1" i="0" u="none" strike="noStrike" cap="none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1270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1270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1270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1270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1270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1270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1270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1270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1270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1270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200" b="0" i="0" u="none" strike="noStrike" cap="none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96" name="Google Shape;96;p2" title="output_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0463" y="4480846"/>
            <a:ext cx="5970637" cy="238617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"/>
          <p:cNvSpPr txBox="1"/>
          <p:nvPr/>
        </p:nvSpPr>
        <p:spPr>
          <a:xfrm>
            <a:off x="8591100" y="5069275"/>
            <a:ext cx="3600900" cy="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Expected revenue </a:t>
            </a:r>
            <a:br>
              <a:rPr lang="es-E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</a:br>
            <a:r>
              <a:rPr lang="es-ES" sz="2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from wind farm: 17.645 €</a:t>
            </a:r>
            <a:endParaRPr sz="2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98" name="Google Shape;98;p2" title="output_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146799"/>
            <a:ext cx="6284057" cy="2386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2" title="output_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84056" y="2147012"/>
            <a:ext cx="5915448" cy="2333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306887" y="-47785"/>
            <a:ext cx="1196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Mixed-integer linear programs (MILP)</a:t>
            </a:r>
            <a:endParaRPr sz="3600" b="0" i="0" u="none" strike="noStrike" cap="none">
              <a:solidFill>
                <a:srgbClr val="BF4F1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05" name="Google Shape;105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8275" y="3788431"/>
            <a:ext cx="3813327" cy="101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0750" y="2038125"/>
            <a:ext cx="6411249" cy="4210499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3"/>
          <p:cNvSpPr txBox="1"/>
          <p:nvPr/>
        </p:nvSpPr>
        <p:spPr>
          <a:xfrm>
            <a:off x="7686600" y="6357400"/>
            <a:ext cx="4505400" cy="4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</a:rPr>
              <a:t>Pozo, David. ‘Linear battery models for power systems analysis’. Electric Power Systems Research, 212 (2022)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0" y="1149050"/>
            <a:ext cx="121920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Our approach</a:t>
            </a:r>
            <a:r>
              <a:rPr lang="es-ES" sz="2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</a:t>
            </a:r>
            <a:r>
              <a:rPr lang="es-ES" sz="21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 problem can be formulated as a MILP because maximizing revenue required optimizing </a:t>
            </a:r>
            <a:r>
              <a:rPr lang="es-ES" sz="2100" u="sng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continuous</a:t>
            </a:r>
            <a:r>
              <a:rPr lang="es-ES" sz="21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power flows while following strict </a:t>
            </a:r>
            <a:r>
              <a:rPr lang="es-ES" sz="2100" u="sng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discrete</a:t>
            </a:r>
            <a:r>
              <a:rPr lang="es-ES" sz="21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, binary decisions.</a:t>
            </a:r>
            <a:endParaRPr sz="1300"/>
          </a:p>
        </p:txBody>
      </p:sp>
      <p:sp>
        <p:nvSpPr>
          <p:cNvPr id="109" name="Google Shape;109;p3"/>
          <p:cNvSpPr txBox="1"/>
          <p:nvPr/>
        </p:nvSpPr>
        <p:spPr>
          <a:xfrm>
            <a:off x="417525" y="3298043"/>
            <a:ext cx="45054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Continuous variable constraint:</a:t>
            </a:r>
            <a:endParaRPr sz="20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sp>
        <p:nvSpPr>
          <p:cNvPr id="110" name="Google Shape;110;p3"/>
          <p:cNvSpPr txBox="1"/>
          <p:nvPr/>
        </p:nvSpPr>
        <p:spPr>
          <a:xfrm>
            <a:off x="534675" y="4981356"/>
            <a:ext cx="42711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Discrete variable </a:t>
            </a:r>
            <a:r>
              <a:rPr lang="es-ES" sz="20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constraint</a:t>
            </a:r>
            <a:r>
              <a:rPr lang="es-ES" sz="20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</a:t>
            </a:r>
            <a:endParaRPr sz="2000" dirty="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111" name="Google Shape;111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06875" y="2664877"/>
            <a:ext cx="4966396" cy="584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3"/>
          <p:cNvSpPr txBox="1"/>
          <p:nvPr/>
        </p:nvSpPr>
        <p:spPr>
          <a:xfrm>
            <a:off x="417525" y="2102875"/>
            <a:ext cx="45054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Expected revenue to maximize:</a:t>
            </a:r>
            <a:endParaRPr sz="200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113" name="Google Shape;113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8269" y="5471725"/>
            <a:ext cx="3272006" cy="1015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b05c13414c_0_5"/>
          <p:cNvSpPr txBox="1">
            <a:spLocks noGrp="1"/>
          </p:cNvSpPr>
          <p:nvPr>
            <p:ph type="body" idx="1"/>
          </p:nvPr>
        </p:nvSpPr>
        <p:spPr>
          <a:xfrm>
            <a:off x="0" y="1277925"/>
            <a:ext cx="12192000" cy="5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200" b="1">
                <a:latin typeface="Open Sans"/>
                <a:ea typeface="Open Sans"/>
                <a:cs typeface="Open Sans"/>
                <a:sym typeface="Open Sans"/>
              </a:rPr>
              <a:t>Motivation</a:t>
            </a:r>
            <a:r>
              <a:rPr lang="es-ES" sz="2200">
                <a:latin typeface="Open Sans Medium"/>
                <a:ea typeface="Open Sans Medium"/>
                <a:cs typeface="Open Sans Medium"/>
                <a:sym typeface="Open Sans Medium"/>
              </a:rPr>
              <a:t>: For large systems (many time steps, many batteries, complex constraints, etc.), the total solution space for a MILP is massive and usual approaches are </a:t>
            </a:r>
            <a:r>
              <a:rPr lang="es-ES" sz="2200" u="sng">
                <a:latin typeface="Open Sans Medium"/>
                <a:ea typeface="Open Sans Medium"/>
                <a:cs typeface="Open Sans Medium"/>
                <a:sym typeface="Open Sans Medium"/>
              </a:rPr>
              <a:t>inefficient</a:t>
            </a:r>
            <a:r>
              <a:rPr lang="es-ES" sz="2200">
                <a:latin typeface="Open Sans Medium"/>
                <a:ea typeface="Open Sans Medium"/>
                <a:cs typeface="Open Sans Medium"/>
                <a:sym typeface="Open Sans Medium"/>
              </a:rPr>
              <a:t>.</a:t>
            </a: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228600" lvl="0" indent="-50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200" b="1">
                <a:latin typeface="Open Sans"/>
                <a:ea typeface="Open Sans"/>
                <a:cs typeface="Open Sans"/>
                <a:sym typeface="Open Sans"/>
              </a:rPr>
              <a:t>Solution</a:t>
            </a:r>
            <a:r>
              <a:rPr lang="es-ES" sz="2200">
                <a:latin typeface="Open Sans Medium"/>
                <a:ea typeface="Open Sans Medium"/>
                <a:cs typeface="Open Sans Medium"/>
                <a:sym typeface="Open Sans Medium"/>
              </a:rPr>
              <a:t>: </a:t>
            </a:r>
            <a:r>
              <a:rPr lang="es-ES" sz="2100">
                <a:latin typeface="Open Sans Medium"/>
                <a:ea typeface="Open Sans Medium"/>
                <a:cs typeface="Open Sans Medium"/>
                <a:sym typeface="Open Sans Medium"/>
              </a:rPr>
              <a:t>Quantum Warm-Starting. To provide the classical solver with an initial, high-quality guess for the Discrete Variables using a quantum algorithm</a:t>
            </a:r>
            <a:endParaRPr sz="21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228600" lvl="0" indent="-50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228600" lvl="0" indent="-50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228600" lvl="0" indent="-50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228600" lvl="0" indent="-50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228600" lvl="0" indent="-50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200" b="1">
                <a:latin typeface="Open Sans"/>
                <a:ea typeface="Open Sans"/>
                <a:cs typeface="Open Sans"/>
                <a:sym typeface="Open Sans"/>
              </a:rPr>
              <a:t>Conclusion</a:t>
            </a:r>
            <a:r>
              <a:rPr lang="es-ES" sz="2200">
                <a:latin typeface="Open Sans Medium"/>
                <a:ea typeface="Open Sans Medium"/>
                <a:cs typeface="Open Sans Medium"/>
                <a:sym typeface="Open Sans Medium"/>
              </a:rPr>
              <a:t>: </a:t>
            </a:r>
            <a:r>
              <a:rPr lang="es-ES" sz="2100">
                <a:latin typeface="Open Sans Medium"/>
                <a:ea typeface="Open Sans Medium"/>
                <a:cs typeface="Open Sans Medium"/>
                <a:sym typeface="Open Sans Medium"/>
              </a:rPr>
              <a:t>By using the quantum-obtained guess, we transform a problem of </a:t>
            </a:r>
            <a:r>
              <a:rPr lang="es-ES" sz="2100" u="sng">
                <a:latin typeface="Open Sans Medium"/>
                <a:ea typeface="Open Sans Medium"/>
                <a:cs typeface="Open Sans Medium"/>
                <a:sym typeface="Open Sans Medium"/>
              </a:rPr>
              <a:t>inefficient exploration</a:t>
            </a:r>
            <a:r>
              <a:rPr lang="es-ES" sz="2100">
                <a:latin typeface="Open Sans Medium"/>
                <a:ea typeface="Open Sans Medium"/>
                <a:cs typeface="Open Sans Medium"/>
                <a:sym typeface="Open Sans Medium"/>
              </a:rPr>
              <a:t> to one of f</a:t>
            </a:r>
            <a:r>
              <a:rPr lang="es-ES" sz="2100" u="sng">
                <a:latin typeface="Open Sans Medium"/>
                <a:ea typeface="Open Sans Medium"/>
                <a:cs typeface="Open Sans Medium"/>
                <a:sym typeface="Open Sans Medium"/>
              </a:rPr>
              <a:t>ocused, rapid exploitation</a:t>
            </a:r>
            <a:r>
              <a:rPr lang="es-ES" sz="2100">
                <a:latin typeface="Open Sans Medium"/>
                <a:ea typeface="Open Sans Medium"/>
                <a:cs typeface="Open Sans Medium"/>
                <a:sym typeface="Open Sans Medium"/>
              </a:rPr>
              <a:t>, unlocking faster and higher-quality solution for large-scale energy systems.</a:t>
            </a:r>
            <a:endParaRPr sz="21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228600" lvl="0" indent="-50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2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g3b05c13414c_0_5"/>
          <p:cNvSpPr txBox="1"/>
          <p:nvPr/>
        </p:nvSpPr>
        <p:spPr>
          <a:xfrm>
            <a:off x="306887" y="-47785"/>
            <a:ext cx="1196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s-ES" sz="4000" dirty="0" err="1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Hybrid</a:t>
            </a:r>
            <a:r>
              <a:rPr lang="es-ES" sz="4000" dirty="0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4000" dirty="0" err="1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quantum+classical</a:t>
            </a:r>
            <a:r>
              <a:rPr lang="es-ES" sz="4000" dirty="0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 MILP </a:t>
            </a:r>
            <a:r>
              <a:rPr lang="es-ES" sz="4000" dirty="0" err="1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algorithm</a:t>
            </a:r>
            <a:endParaRPr lang="es-ES" sz="3600" dirty="0">
              <a:solidFill>
                <a:srgbClr val="BF4F1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42" name="Google Shape;142;g3b05c13414c_0_5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75" y="3439622"/>
            <a:ext cx="3966399" cy="1804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g3b05c13414c_0_5" title="rect30045-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8865" y="3408146"/>
            <a:ext cx="2013225" cy="164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g3b05c13414c_0_5"/>
          <p:cNvSpPr/>
          <p:nvPr/>
        </p:nvSpPr>
        <p:spPr>
          <a:xfrm>
            <a:off x="4085852" y="3753150"/>
            <a:ext cx="1479600" cy="345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g3b05c13414c_0_5"/>
          <p:cNvSpPr/>
          <p:nvPr/>
        </p:nvSpPr>
        <p:spPr>
          <a:xfrm>
            <a:off x="7855852" y="3753150"/>
            <a:ext cx="1479600" cy="345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3b05c13414c_0_5"/>
          <p:cNvSpPr txBox="1"/>
          <p:nvPr/>
        </p:nvSpPr>
        <p:spPr>
          <a:xfrm>
            <a:off x="4021875" y="3085950"/>
            <a:ext cx="1626900" cy="5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>
                <a:solidFill>
                  <a:schemeClr val="dk1"/>
                </a:solidFill>
              </a:rPr>
              <a:t>    Quantum Warm-Starting</a:t>
            </a:r>
            <a:endParaRPr sz="1500" b="1">
              <a:solidFill>
                <a:schemeClr val="dk1"/>
              </a:solidFill>
            </a:endParaRPr>
          </a:p>
        </p:txBody>
      </p:sp>
      <p:sp>
        <p:nvSpPr>
          <p:cNvPr id="147" name="Google Shape;147;g3b05c13414c_0_5"/>
          <p:cNvSpPr txBox="1"/>
          <p:nvPr/>
        </p:nvSpPr>
        <p:spPr>
          <a:xfrm>
            <a:off x="5970827" y="3673688"/>
            <a:ext cx="1479600" cy="5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chemeClr val="dk1"/>
                </a:solidFill>
              </a:rPr>
              <a:t>Classical Simulation</a:t>
            </a:r>
            <a:endParaRPr sz="1700" b="1">
              <a:solidFill>
                <a:schemeClr val="dk1"/>
              </a:solidFill>
            </a:endParaRPr>
          </a:p>
        </p:txBody>
      </p:sp>
      <p:sp>
        <p:nvSpPr>
          <p:cNvPr id="148" name="Google Shape;148;g3b05c13414c_0_5"/>
          <p:cNvSpPr txBox="1"/>
          <p:nvPr/>
        </p:nvSpPr>
        <p:spPr>
          <a:xfrm>
            <a:off x="962652" y="3085938"/>
            <a:ext cx="1479600" cy="5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chemeClr val="dk1"/>
                </a:solidFill>
              </a:rPr>
              <a:t>Quantum Simulation</a:t>
            </a:r>
            <a:endParaRPr sz="1700" b="1">
              <a:solidFill>
                <a:schemeClr val="dk1"/>
              </a:solidFill>
            </a:endParaRPr>
          </a:p>
        </p:txBody>
      </p:sp>
      <p:sp>
        <p:nvSpPr>
          <p:cNvPr id="149" name="Google Shape;149;g3b05c13414c_0_5"/>
          <p:cNvSpPr txBox="1"/>
          <p:nvPr/>
        </p:nvSpPr>
        <p:spPr>
          <a:xfrm>
            <a:off x="9620449" y="3529360"/>
            <a:ext cx="1866300" cy="10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000" b="1">
                <a:solidFill>
                  <a:schemeClr val="dk1"/>
                </a:solidFill>
              </a:rPr>
              <a:t>Efficient solution</a:t>
            </a:r>
            <a:endParaRPr sz="30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05c13414c_0_73"/>
          <p:cNvSpPr txBox="1">
            <a:spLocks noGrp="1"/>
          </p:cNvSpPr>
          <p:nvPr>
            <p:ph type="body" idx="1"/>
          </p:nvPr>
        </p:nvSpPr>
        <p:spPr>
          <a:xfrm>
            <a:off x="0" y="1277925"/>
            <a:ext cx="12192000" cy="55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200" b="1">
                <a:latin typeface="Open Sans"/>
                <a:ea typeface="Open Sans"/>
                <a:cs typeface="Open Sans"/>
                <a:sym typeface="Open Sans"/>
              </a:rPr>
              <a:t>Motivation</a:t>
            </a:r>
            <a:r>
              <a:rPr lang="es-ES" sz="2200">
                <a:latin typeface="Open Sans Medium"/>
                <a:ea typeface="Open Sans Medium"/>
                <a:cs typeface="Open Sans Medium"/>
                <a:sym typeface="Open Sans Medium"/>
              </a:rPr>
              <a:t>: For large systems (many time steps, many batteries, complex constraints, etc.), the total solution space for a MILP is massive and usual approaches are </a:t>
            </a:r>
            <a:r>
              <a:rPr lang="es-ES" sz="2200" u="sng">
                <a:latin typeface="Open Sans Medium"/>
                <a:ea typeface="Open Sans Medium"/>
                <a:cs typeface="Open Sans Medium"/>
                <a:sym typeface="Open Sans Medium"/>
              </a:rPr>
              <a:t>inefficient</a:t>
            </a:r>
            <a:r>
              <a:rPr lang="es-ES" sz="2200">
                <a:latin typeface="Open Sans Medium"/>
                <a:ea typeface="Open Sans Medium"/>
                <a:cs typeface="Open Sans Medium"/>
                <a:sym typeface="Open Sans Medium"/>
              </a:rPr>
              <a:t>.</a:t>
            </a: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228600" lvl="0" indent="-50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200" b="1">
                <a:latin typeface="Open Sans"/>
                <a:ea typeface="Open Sans"/>
                <a:cs typeface="Open Sans"/>
                <a:sym typeface="Open Sans"/>
              </a:rPr>
              <a:t>Solution</a:t>
            </a:r>
            <a:r>
              <a:rPr lang="es-ES" sz="2200">
                <a:latin typeface="Open Sans Medium"/>
                <a:ea typeface="Open Sans Medium"/>
                <a:cs typeface="Open Sans Medium"/>
                <a:sym typeface="Open Sans Medium"/>
              </a:rPr>
              <a:t>: </a:t>
            </a:r>
            <a:r>
              <a:rPr lang="es-ES" sz="2100">
                <a:latin typeface="Open Sans Medium"/>
                <a:ea typeface="Open Sans Medium"/>
                <a:cs typeface="Open Sans Medium"/>
                <a:sym typeface="Open Sans Medium"/>
              </a:rPr>
              <a:t>Quantum Warm-Starting. To provide the classical solver with an initial, high-quality guess for the Discrete Variables using a quantum algorithm</a:t>
            </a:r>
            <a:endParaRPr sz="21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228600" lvl="0" indent="-50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228600" lvl="0" indent="-50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228600" lvl="0" indent="-50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228600" lvl="0" indent="-50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2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228600" lvl="0" indent="-50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ES" sz="2200" b="1">
                <a:latin typeface="Open Sans"/>
                <a:ea typeface="Open Sans"/>
                <a:cs typeface="Open Sans"/>
                <a:sym typeface="Open Sans"/>
              </a:rPr>
              <a:t>Conclusion</a:t>
            </a:r>
            <a:r>
              <a:rPr lang="es-ES" sz="2200">
                <a:latin typeface="Open Sans Medium"/>
                <a:ea typeface="Open Sans Medium"/>
                <a:cs typeface="Open Sans Medium"/>
                <a:sym typeface="Open Sans Medium"/>
              </a:rPr>
              <a:t>: </a:t>
            </a:r>
            <a:r>
              <a:rPr lang="es-ES" sz="2100">
                <a:latin typeface="Open Sans Medium"/>
                <a:ea typeface="Open Sans Medium"/>
                <a:cs typeface="Open Sans Medium"/>
                <a:sym typeface="Open Sans Medium"/>
              </a:rPr>
              <a:t>By using the quantum-obtained guess, we transform a problem of </a:t>
            </a:r>
            <a:r>
              <a:rPr lang="es-ES" sz="2100" u="sng">
                <a:latin typeface="Open Sans Medium"/>
                <a:ea typeface="Open Sans Medium"/>
                <a:cs typeface="Open Sans Medium"/>
                <a:sym typeface="Open Sans Medium"/>
              </a:rPr>
              <a:t>inefficient exploration</a:t>
            </a:r>
            <a:r>
              <a:rPr lang="es-ES" sz="2100">
                <a:latin typeface="Open Sans Medium"/>
                <a:ea typeface="Open Sans Medium"/>
                <a:cs typeface="Open Sans Medium"/>
                <a:sym typeface="Open Sans Medium"/>
              </a:rPr>
              <a:t> to one of f</a:t>
            </a:r>
            <a:r>
              <a:rPr lang="es-ES" sz="2100" u="sng">
                <a:latin typeface="Open Sans Medium"/>
                <a:ea typeface="Open Sans Medium"/>
                <a:cs typeface="Open Sans Medium"/>
                <a:sym typeface="Open Sans Medium"/>
              </a:rPr>
              <a:t>ocused, rapid exploitation</a:t>
            </a:r>
            <a:r>
              <a:rPr lang="es-ES" sz="2100">
                <a:latin typeface="Open Sans Medium"/>
                <a:ea typeface="Open Sans Medium"/>
                <a:cs typeface="Open Sans Medium"/>
                <a:sym typeface="Open Sans Medium"/>
              </a:rPr>
              <a:t>, unlocking faster and higher-quality solution for large-scale energy systems.</a:t>
            </a:r>
            <a:endParaRPr sz="2100">
              <a:latin typeface="Open Sans Medium"/>
              <a:ea typeface="Open Sans Medium"/>
              <a:cs typeface="Open Sans Medium"/>
              <a:sym typeface="Open Sans Medium"/>
            </a:endParaRPr>
          </a:p>
          <a:p>
            <a:pPr marL="228600" lvl="0" indent="-50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2200" b="1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g3b05c13414c_0_73"/>
          <p:cNvSpPr txBox="1"/>
          <p:nvPr/>
        </p:nvSpPr>
        <p:spPr>
          <a:xfrm>
            <a:off x="306887" y="-47785"/>
            <a:ext cx="1196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s-ES" sz="4000" dirty="0" err="1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Hybrid</a:t>
            </a:r>
            <a:r>
              <a:rPr lang="es-ES" sz="4000" dirty="0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4000" dirty="0" err="1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quantum+classical</a:t>
            </a:r>
            <a:r>
              <a:rPr lang="es-ES" sz="4000" dirty="0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 MILP </a:t>
            </a:r>
            <a:r>
              <a:rPr lang="es-ES" sz="4000" dirty="0" err="1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algorithm</a:t>
            </a:r>
            <a:endParaRPr lang="es-ES" sz="3600" dirty="0">
              <a:solidFill>
                <a:srgbClr val="BF4F1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56" name="Google Shape;156;g3b05c13414c_0_73" title="imag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75" y="3439622"/>
            <a:ext cx="3966399" cy="18046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g3b05c13414c_0_73" title="rect30045-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8865" y="3408146"/>
            <a:ext cx="2013225" cy="164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g3b05c13414c_0_73"/>
          <p:cNvSpPr/>
          <p:nvPr/>
        </p:nvSpPr>
        <p:spPr>
          <a:xfrm>
            <a:off x="4085852" y="3753150"/>
            <a:ext cx="1479600" cy="345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g3b05c13414c_0_73"/>
          <p:cNvSpPr/>
          <p:nvPr/>
        </p:nvSpPr>
        <p:spPr>
          <a:xfrm>
            <a:off x="7855852" y="3753150"/>
            <a:ext cx="1479600" cy="3450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g3b05c13414c_0_73"/>
          <p:cNvSpPr txBox="1"/>
          <p:nvPr/>
        </p:nvSpPr>
        <p:spPr>
          <a:xfrm>
            <a:off x="5970827" y="3673688"/>
            <a:ext cx="1479600" cy="5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chemeClr val="dk1"/>
                </a:solidFill>
              </a:rPr>
              <a:t>Classical Simulation</a:t>
            </a:r>
            <a:endParaRPr sz="1700" b="1">
              <a:solidFill>
                <a:schemeClr val="dk1"/>
              </a:solidFill>
            </a:endParaRPr>
          </a:p>
        </p:txBody>
      </p:sp>
      <p:sp>
        <p:nvSpPr>
          <p:cNvPr id="161" name="Google Shape;161;g3b05c13414c_0_73"/>
          <p:cNvSpPr txBox="1"/>
          <p:nvPr/>
        </p:nvSpPr>
        <p:spPr>
          <a:xfrm>
            <a:off x="962652" y="3085938"/>
            <a:ext cx="1479600" cy="5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700" b="1">
                <a:solidFill>
                  <a:schemeClr val="dk1"/>
                </a:solidFill>
              </a:rPr>
              <a:t>Quantum Simulation</a:t>
            </a:r>
            <a:endParaRPr sz="1700" b="1">
              <a:solidFill>
                <a:schemeClr val="dk1"/>
              </a:solidFill>
            </a:endParaRPr>
          </a:p>
        </p:txBody>
      </p:sp>
      <p:sp>
        <p:nvSpPr>
          <p:cNvPr id="162" name="Google Shape;162;g3b05c13414c_0_73"/>
          <p:cNvSpPr txBox="1"/>
          <p:nvPr/>
        </p:nvSpPr>
        <p:spPr>
          <a:xfrm>
            <a:off x="4021875" y="3085950"/>
            <a:ext cx="1626900" cy="56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>
                <a:solidFill>
                  <a:schemeClr val="dk1"/>
                </a:solidFill>
              </a:rPr>
              <a:t>    Quantum Warm-Starting</a:t>
            </a:r>
            <a:endParaRPr sz="1500"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>
          <a:extLst>
            <a:ext uri="{FF2B5EF4-FFF2-40B4-BE49-F238E27FC236}">
              <a16:creationId xmlns:a16="http://schemas.microsoft.com/office/drawing/2014/main" id="{F1454F28-D4A6-9E45-09F8-8F8D9CCB8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05c13414c_0_27">
            <a:extLst>
              <a:ext uri="{FF2B5EF4-FFF2-40B4-BE49-F238E27FC236}">
                <a16:creationId xmlns:a16="http://schemas.microsoft.com/office/drawing/2014/main" id="{0AE201CE-1327-C8C9-E248-A512E38374AA}"/>
              </a:ext>
            </a:extLst>
          </p:cNvPr>
          <p:cNvSpPr txBox="1"/>
          <p:nvPr/>
        </p:nvSpPr>
        <p:spPr>
          <a:xfrm>
            <a:off x="306887" y="-47785"/>
            <a:ext cx="1196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s-ES" sz="3600" dirty="0" err="1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Hybrid</a:t>
            </a:r>
            <a:r>
              <a:rPr lang="es-ES" sz="3600" dirty="0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3600" dirty="0" err="1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quantum+classical</a:t>
            </a:r>
            <a:r>
              <a:rPr lang="es-ES" sz="3600" dirty="0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 MILP </a:t>
            </a:r>
            <a:r>
              <a:rPr lang="es-ES" sz="3600" dirty="0" err="1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algorithm</a:t>
            </a:r>
            <a:r>
              <a:rPr lang="es-ES" sz="3600" dirty="0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s-ES" sz="3200" dirty="0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QAOA</a:t>
            </a:r>
          </a:p>
        </p:txBody>
      </p:sp>
      <p:sp>
        <p:nvSpPr>
          <p:cNvPr id="130" name="Google Shape;130;g3b05c13414c_0_27">
            <a:extLst>
              <a:ext uri="{FF2B5EF4-FFF2-40B4-BE49-F238E27FC236}">
                <a16:creationId xmlns:a16="http://schemas.microsoft.com/office/drawing/2014/main" id="{36A13D76-E8E6-D227-F68E-966A3EF710FE}"/>
              </a:ext>
            </a:extLst>
          </p:cNvPr>
          <p:cNvSpPr txBox="1"/>
          <p:nvPr/>
        </p:nvSpPr>
        <p:spPr>
          <a:xfrm>
            <a:off x="0" y="1149050"/>
            <a:ext cx="121920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Our</a:t>
            </a:r>
            <a:r>
              <a:rPr lang="es-ES" sz="2200" b="1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2200" b="1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proposal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QAOA </a:t>
            </a:r>
            <a:r>
              <a:rPr lang="es-ES" sz="22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is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a </a:t>
            </a:r>
            <a:r>
              <a:rPr lang="es-ES" sz="22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algorithm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22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to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22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find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22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near-optimal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22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solutions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22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for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discrete </a:t>
            </a:r>
            <a:r>
              <a:rPr lang="es-ES" sz="22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optimization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22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tasks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. </a:t>
            </a:r>
            <a:r>
              <a:rPr lang="es-ES" sz="22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It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uses quantum </a:t>
            </a:r>
            <a:r>
              <a:rPr lang="es-ES" sz="22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effects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22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to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explore </a:t>
            </a:r>
            <a:r>
              <a:rPr lang="es-ES" sz="22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complex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22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spaces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.</a:t>
            </a:r>
            <a:endParaRPr sz="1300" dirty="0"/>
          </a:p>
        </p:txBody>
      </p:sp>
      <p:pic>
        <p:nvPicPr>
          <p:cNvPr id="131" name="Google Shape;131;g3b05c13414c_0_27" title="Screenshot 2025-12-14 at 09.35.09.png">
            <a:extLst>
              <a:ext uri="{FF2B5EF4-FFF2-40B4-BE49-F238E27FC236}">
                <a16:creationId xmlns:a16="http://schemas.microsoft.com/office/drawing/2014/main" id="{31FD1F8E-F4AF-2B88-3C81-73639D3302A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93551" y="3206700"/>
            <a:ext cx="6605573" cy="3431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g3b05c13414c_0_27">
            <a:extLst>
              <a:ext uri="{FF2B5EF4-FFF2-40B4-BE49-F238E27FC236}">
                <a16:creationId xmlns:a16="http://schemas.microsoft.com/office/drawing/2014/main" id="{7499C4AA-8B09-364D-1950-14D5B961A39B}"/>
              </a:ext>
            </a:extLst>
          </p:cNvPr>
          <p:cNvSpPr txBox="1"/>
          <p:nvPr/>
        </p:nvSpPr>
        <p:spPr>
          <a:xfrm>
            <a:off x="7449575" y="2793950"/>
            <a:ext cx="15039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In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practice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</a:t>
            </a:r>
            <a:endParaRPr lang="es-ES" sz="1800" b="1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3" name="Google Shape;133;g3b05c13414c_0_27">
            <a:extLst>
              <a:ext uri="{FF2B5EF4-FFF2-40B4-BE49-F238E27FC236}">
                <a16:creationId xmlns:a16="http://schemas.microsoft.com/office/drawing/2014/main" id="{045F3AB0-3A11-889C-9BCA-51E0AE274F9D}"/>
              </a:ext>
            </a:extLst>
          </p:cNvPr>
          <p:cNvSpPr txBox="1"/>
          <p:nvPr/>
        </p:nvSpPr>
        <p:spPr>
          <a:xfrm>
            <a:off x="306875" y="2481050"/>
            <a:ext cx="44079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We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seek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to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optimize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two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angles:</a:t>
            </a:r>
            <a:endParaRPr sz="1800" b="1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4" name="Google Shape;134;g3b05c13414c_0_27">
            <a:extLst>
              <a:ext uri="{FF2B5EF4-FFF2-40B4-BE49-F238E27FC236}">
                <a16:creationId xmlns:a16="http://schemas.microsoft.com/office/drawing/2014/main" id="{58052171-2DE8-848D-BF2B-40015D1E9E6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94150" y="2565350"/>
            <a:ext cx="6096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3b05c13414c_0_27">
            <a:extLst>
              <a:ext uri="{FF2B5EF4-FFF2-40B4-BE49-F238E27FC236}">
                <a16:creationId xmlns:a16="http://schemas.microsoft.com/office/drawing/2014/main" id="{129233E5-5DCF-E972-2513-9BD61F5742A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0500" y="3206700"/>
            <a:ext cx="4600658" cy="233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3;g3b05c13414c_0_27">
            <a:extLst>
              <a:ext uri="{FF2B5EF4-FFF2-40B4-BE49-F238E27FC236}">
                <a16:creationId xmlns:a16="http://schemas.microsoft.com/office/drawing/2014/main" id="{88CD6EE6-16BF-C6A9-9349-3F1EA1B94CCE}"/>
              </a:ext>
            </a:extLst>
          </p:cNvPr>
          <p:cNvSpPr txBox="1"/>
          <p:nvPr/>
        </p:nvSpPr>
        <p:spPr>
          <a:xfrm>
            <a:off x="306875" y="3757300"/>
            <a:ext cx="4407900" cy="23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We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rewrite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a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simplified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version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of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problem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in QUBO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form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including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constraints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as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const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function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penalties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.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This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can be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solved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with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standard quantum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optimization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routines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to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recover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a quantum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guess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of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optimal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schedule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99593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05c13414c_0_27"/>
          <p:cNvSpPr txBox="1"/>
          <p:nvPr/>
        </p:nvSpPr>
        <p:spPr>
          <a:xfrm>
            <a:off x="306887" y="-47785"/>
            <a:ext cx="1196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lnSpc>
                <a:spcPct val="90000"/>
              </a:lnSpc>
            </a:pPr>
            <a:r>
              <a:rPr lang="es-ES" sz="3600" dirty="0" err="1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Hybrid</a:t>
            </a:r>
            <a:r>
              <a:rPr lang="es-ES" sz="3600" dirty="0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s-ES" sz="3600" dirty="0" err="1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quantum+classical</a:t>
            </a:r>
            <a:r>
              <a:rPr lang="es-ES" sz="3600" dirty="0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 MILP </a:t>
            </a:r>
            <a:r>
              <a:rPr lang="es-ES" sz="3600" dirty="0" err="1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algorithm</a:t>
            </a:r>
            <a:r>
              <a:rPr lang="es-ES" sz="3600" dirty="0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s-ES" sz="3200" dirty="0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COIN-OR CBC</a:t>
            </a:r>
          </a:p>
        </p:txBody>
      </p:sp>
      <p:sp>
        <p:nvSpPr>
          <p:cNvPr id="130" name="Google Shape;130;g3b05c13414c_0_27"/>
          <p:cNvSpPr txBox="1"/>
          <p:nvPr/>
        </p:nvSpPr>
        <p:spPr>
          <a:xfrm>
            <a:off x="0" y="1149050"/>
            <a:ext cx="121920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1270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Our</a:t>
            </a:r>
            <a:r>
              <a:rPr lang="es-ES" sz="2200" b="1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2200" b="1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proposal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QAOA </a:t>
            </a:r>
            <a:r>
              <a:rPr lang="es-ES" sz="22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is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a </a:t>
            </a:r>
            <a:r>
              <a:rPr lang="es-ES" sz="22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algorithm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22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to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22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find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22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near-optimal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22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solutions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22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for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discrete </a:t>
            </a:r>
            <a:r>
              <a:rPr lang="es-ES" sz="22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optimization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22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tasks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. </a:t>
            </a:r>
            <a:r>
              <a:rPr lang="es-ES" sz="22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It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uses quantum </a:t>
            </a:r>
            <a:r>
              <a:rPr lang="es-ES" sz="22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effects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22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to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explore </a:t>
            </a:r>
            <a:r>
              <a:rPr lang="es-ES" sz="22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complex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22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spaces</a:t>
            </a:r>
            <a:r>
              <a:rPr lang="es-ES" sz="22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.</a:t>
            </a:r>
            <a:endParaRPr sz="1300" dirty="0"/>
          </a:p>
        </p:txBody>
      </p:sp>
      <p:sp>
        <p:nvSpPr>
          <p:cNvPr id="133" name="Google Shape;133;g3b05c13414c_0_27"/>
          <p:cNvSpPr txBox="1"/>
          <p:nvPr/>
        </p:nvSpPr>
        <p:spPr>
          <a:xfrm>
            <a:off x="306875" y="2481050"/>
            <a:ext cx="44079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We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seek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to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optimize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two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angles:</a:t>
            </a:r>
            <a:endParaRPr sz="1800" b="1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pic>
        <p:nvPicPr>
          <p:cNvPr id="134" name="Google Shape;134;g3b05c13414c_0_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4150" y="2565350"/>
            <a:ext cx="6096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3b05c13414c_0_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500" y="3206700"/>
            <a:ext cx="4600658" cy="233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33;g3b05c13414c_0_27">
            <a:extLst>
              <a:ext uri="{FF2B5EF4-FFF2-40B4-BE49-F238E27FC236}">
                <a16:creationId xmlns:a16="http://schemas.microsoft.com/office/drawing/2014/main" id="{A2516A0F-7521-B9D0-92DA-41B9D5B25B13}"/>
              </a:ext>
            </a:extLst>
          </p:cNvPr>
          <p:cNvSpPr txBox="1"/>
          <p:nvPr/>
        </p:nvSpPr>
        <p:spPr>
          <a:xfrm>
            <a:off x="306875" y="3757300"/>
            <a:ext cx="4407900" cy="2341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After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this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,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we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solve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the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full MILP (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constraints+objective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)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problem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using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standard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classical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solvers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PuLP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package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in Python.</a:t>
            </a:r>
            <a:endParaRPr lang="es-ES" sz="1800" b="1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Problem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is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dispatched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to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a COIN-OR </a:t>
            </a:r>
            <a:r>
              <a:rPr lang="en-U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CBC algorithm, which solves it using a branch-and-cut approach (LP relaxations + branching + cuts) and returns the optimal schedule.</a:t>
            </a:r>
            <a:endParaRPr lang="es-ES" sz="1800" dirty="0">
              <a:solidFill>
                <a:schemeClr val="dk1"/>
              </a:solidFill>
              <a:latin typeface="Open Sans Medium"/>
              <a:ea typeface="Open Sans Medium"/>
              <a:cs typeface="Open Sans Medium"/>
              <a:sym typeface="Open Sans Medium"/>
            </a:endParaRPr>
          </a:p>
        </p:txBody>
      </p:sp>
      <p:pic>
        <p:nvPicPr>
          <p:cNvPr id="4" name="Imagen 3" descr="Captura de pantalla de un celular&#10;&#10;El contenido generado por IA puede ser incorrecto.">
            <a:extLst>
              <a:ext uri="{FF2B5EF4-FFF2-40B4-BE49-F238E27FC236}">
                <a16:creationId xmlns:a16="http://schemas.microsoft.com/office/drawing/2014/main" id="{704CCE65-8625-34CF-18AF-404A3C12B1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62285" y="3018470"/>
            <a:ext cx="6523122" cy="3080578"/>
          </a:xfrm>
          <a:prstGeom prst="rect">
            <a:avLst/>
          </a:prstGeom>
        </p:spPr>
      </p:pic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76FBA18A-72A5-73B7-5EF8-09E3709B3539}"/>
              </a:ext>
            </a:extLst>
          </p:cNvPr>
          <p:cNvCxnSpPr>
            <a:cxnSpLocks/>
          </p:cNvCxnSpPr>
          <p:nvPr/>
        </p:nvCxnSpPr>
        <p:spPr>
          <a:xfrm flipH="1">
            <a:off x="8498433" y="2727275"/>
            <a:ext cx="283464" cy="544453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8" name="Google Shape;132;g3b05c13414c_0_27">
            <a:extLst>
              <a:ext uri="{FF2B5EF4-FFF2-40B4-BE49-F238E27FC236}">
                <a16:creationId xmlns:a16="http://schemas.microsoft.com/office/drawing/2014/main" id="{44EF9B2E-2471-50D1-9282-AF04FFA6D9E1}"/>
              </a:ext>
            </a:extLst>
          </p:cNvPr>
          <p:cNvSpPr txBox="1"/>
          <p:nvPr/>
        </p:nvSpPr>
        <p:spPr>
          <a:xfrm>
            <a:off x="8312970" y="2318300"/>
            <a:ext cx="15039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In </a:t>
            </a:r>
            <a:r>
              <a:rPr lang="es-ES" sz="1800" dirty="0" err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practice</a:t>
            </a:r>
            <a:r>
              <a:rPr lang="es-ES" sz="1800" dirty="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</a:t>
            </a:r>
            <a:endParaRPr lang="es-ES" sz="1800" b="1" dirty="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b05c13414c_0_0"/>
          <p:cNvSpPr txBox="1"/>
          <p:nvPr/>
        </p:nvSpPr>
        <p:spPr>
          <a:xfrm>
            <a:off x="306887" y="-47785"/>
            <a:ext cx="119667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>
                <a:solidFill>
                  <a:srgbClr val="BF4F14"/>
                </a:solidFill>
                <a:latin typeface="Open Sans"/>
                <a:ea typeface="Open Sans"/>
                <a:cs typeface="Open Sans"/>
                <a:sym typeface="Open Sans"/>
              </a:rPr>
              <a:t>Mixed-integer linear programs (MILP) </a:t>
            </a:r>
            <a:endParaRPr sz="3600" b="0" i="0" u="none" strike="noStrike" cap="none">
              <a:solidFill>
                <a:srgbClr val="BF4F14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g3b05c13414c_0_0"/>
          <p:cNvSpPr txBox="1"/>
          <p:nvPr/>
        </p:nvSpPr>
        <p:spPr>
          <a:xfrm>
            <a:off x="105825" y="6289500"/>
            <a:ext cx="4505400" cy="48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chemeClr val="dk1"/>
                </a:solidFill>
              </a:rPr>
              <a:t>Pozo, David. ‘Linear battery models for power systems analysis’. Electric Power Systems Research, 212 (2022)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120" name="Google Shape;120;g3b05c13414c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1813" y="2615763"/>
            <a:ext cx="3182967" cy="71677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g3b05c13414c_0_0"/>
          <p:cNvSpPr txBox="1"/>
          <p:nvPr/>
        </p:nvSpPr>
        <p:spPr>
          <a:xfrm>
            <a:off x="0" y="1149050"/>
            <a:ext cx="121920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 More realistic models</a:t>
            </a:r>
            <a:r>
              <a:rPr lang="es-ES" sz="22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: to take into account effects from the wind farm such as the variance of all 13 predictions, which did NOT affect the previous state of the battery</a:t>
            </a:r>
            <a:endParaRPr sz="1300"/>
          </a:p>
        </p:txBody>
      </p:sp>
      <p:pic>
        <p:nvPicPr>
          <p:cNvPr id="122" name="Google Shape;122;g3b05c13414c_0_0" title="output_8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9250" y="2887609"/>
            <a:ext cx="6372751" cy="2763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b05c13414c_0_0" title="output_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3444732"/>
            <a:ext cx="5819249" cy="2327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3b05c13414c_0_0"/>
          <p:cNvSpPr txBox="1"/>
          <p:nvPr/>
        </p:nvSpPr>
        <p:spPr>
          <a:xfrm>
            <a:off x="812650" y="2143063"/>
            <a:ext cx="3921300" cy="31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Open Sans Medium"/>
                <a:ea typeface="Open Sans Medium"/>
                <a:cs typeface="Open Sans Medium"/>
                <a:sym typeface="Open Sans Medium"/>
              </a:rPr>
              <a:t>Set-point tracking problem (</a:t>
            </a:r>
            <a:r>
              <a:rPr lang="es-ES" sz="1800" b="1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SPT)</a:t>
            </a:r>
            <a:endParaRPr sz="1800" b="1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601</Words>
  <Application>Microsoft Office PowerPoint</Application>
  <PresentationFormat>Panorámica</PresentationFormat>
  <Paragraphs>77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4" baseType="lpstr">
      <vt:lpstr>Play</vt:lpstr>
      <vt:lpstr>Calibri</vt:lpstr>
      <vt:lpstr>Arial</vt:lpstr>
      <vt:lpstr>Open Sans Medium</vt:lpstr>
      <vt:lpstr>Open Sans</vt:lpstr>
      <vt:lpstr>Tema de Office</vt:lpstr>
      <vt:lpstr>Endesa Challenge:  Joint optimization of a  Battery System and a Wind Farm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Cristian Tabares Lopez</dc:creator>
  <cp:lastModifiedBy>Cristian Tabares Lopez</cp:lastModifiedBy>
  <cp:revision>1</cp:revision>
  <dcterms:created xsi:type="dcterms:W3CDTF">2025-12-13T15:36:44Z</dcterms:created>
  <dcterms:modified xsi:type="dcterms:W3CDTF">2025-12-14T09:41:51Z</dcterms:modified>
</cp:coreProperties>
</file>